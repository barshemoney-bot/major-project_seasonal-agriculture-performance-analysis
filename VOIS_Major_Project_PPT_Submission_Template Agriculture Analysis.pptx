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2"/>
  </p:notesMasterIdLst>
  <p:handoutMasterIdLst>
    <p:handoutMasterId r:id="rId3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41" r:id="rId28"/>
    <p:sldId id="342" r:id="rId29"/>
    <p:sldId id="343" r:id="rId30"/>
    <p:sldId id="30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2" d="100"/>
          <a:sy n="112" d="100"/>
        </p:scale>
        <p:origin x="432"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ng barshe" userId="5bf63b0ddd6e8004" providerId="LiveId" clId="{CD53E95B-9AC2-4D18-8181-3C73114183BA}"/>
    <pc:docChg chg="custSel modSld">
      <pc:chgData name="umang barshe" userId="5bf63b0ddd6e8004" providerId="LiveId" clId="{CD53E95B-9AC2-4D18-8181-3C73114183BA}" dt="2026-09-08T23:20:36.821" v="29" actId="1076"/>
      <pc:docMkLst>
        <pc:docMk/>
      </pc:docMkLst>
      <pc:sldChg chg="addSp modSp mod modAnim">
        <pc:chgData name="umang barshe" userId="5bf63b0ddd6e8004" providerId="LiveId" clId="{CD53E95B-9AC2-4D18-8181-3C73114183BA}" dt="2026-09-08T23:20:36.821" v="29" actId="1076"/>
        <pc:sldMkLst>
          <pc:docMk/>
          <pc:sldMk cId="3863610428" sldId="342"/>
        </pc:sldMkLst>
        <pc:spChg chg="add mod">
          <ac:chgData name="umang barshe" userId="5bf63b0ddd6e8004" providerId="LiveId" clId="{CD53E95B-9AC2-4D18-8181-3C73114183BA}" dt="2026-09-08T23:20:28.061" v="28" actId="14100"/>
          <ac:spMkLst>
            <pc:docMk/>
            <pc:sldMk cId="3863610428" sldId="342"/>
            <ac:spMk id="2" creationId="{2BE4BB3B-CF3E-2857-A068-D8069C1BA9B0}"/>
          </ac:spMkLst>
        </pc:spChg>
        <pc:spChg chg="mod">
          <ac:chgData name="umang barshe" userId="5bf63b0ddd6e8004" providerId="LiveId" clId="{CD53E95B-9AC2-4D18-8181-3C73114183BA}" dt="2026-09-08T23:20:36.821" v="29" actId="1076"/>
          <ac:spMkLst>
            <pc:docMk/>
            <pc:sldMk cId="3863610428" sldId="342"/>
            <ac:spMk id="7" creationId="{AF1C8809-654A-4DD1-BB18-87B8B6C020B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46789" y="1501579"/>
            <a:ext cx="6967948" cy="646331"/>
          </a:xfrm>
        </p:spPr>
        <p:txBody>
          <a:bodyPr>
            <a:normAutofit fontScale="90000"/>
          </a:bodyPr>
          <a:lstStyle/>
          <a:p>
            <a:r>
              <a:rPr lang="en-GB" sz="3600" b="1" dirty="0">
                <a:latin typeface="Arial Rounded MT Bold" panose="020F0704030504030204" pitchFamily="34" charset="0"/>
              </a:rPr>
              <a:t>Project Title Major </a:t>
            </a:r>
            <a:r>
              <a:rPr lang="en-GB" sz="3200" dirty="0"/>
              <a:t>:– </a:t>
            </a:r>
            <a:r>
              <a:rPr lang="en-GB" sz="3100" b="1" dirty="0">
                <a:latin typeface="Arial Rounded MT Bold" panose="020F0704030504030204" pitchFamily="34" charset="0"/>
              </a:rPr>
              <a:t>Project ON Seasonal  Agriculture Performance Analysis</a:t>
            </a:r>
            <a:br>
              <a:rPr lang="en-GB" sz="3100" b="1" dirty="0">
                <a:latin typeface="Arial Rounded MT Bold" panose="020F0704030504030204" pitchFamily="34" charset="0"/>
              </a:rPr>
            </a:br>
            <a:r>
              <a:rPr lang="en-GB" sz="3100" b="1" dirty="0">
                <a:latin typeface="Arial Rounded MT Bold" panose="020F0704030504030204" pitchFamily="34" charset="0"/>
              </a:rPr>
              <a:t>[STUDENT NAME :- UMANG BARSHE</a:t>
            </a:r>
            <a:br>
              <a:rPr lang="en-GB" sz="3100" b="1" dirty="0">
                <a:latin typeface="Arial Rounded MT Bold" panose="020F0704030504030204" pitchFamily="34" charset="0"/>
              </a:rPr>
            </a:br>
            <a:r>
              <a:rPr lang="en-GB" sz="3100" b="1" dirty="0">
                <a:latin typeface="Arial Rounded MT Bold" panose="020F0704030504030204" pitchFamily="34" charset="0"/>
              </a:rPr>
              <a:t>College Name:- TAKSHSHILA INSTITUTE OF ENGINEERING AND TECHNOLOGY , RGPV]</a:t>
            </a:r>
            <a:br>
              <a:rPr lang="en-GB" sz="3100" b="1" dirty="0">
                <a:latin typeface="Arial Rounded MT Bold" panose="020F0704030504030204" pitchFamily="34" charset="0"/>
              </a:rPr>
            </a:br>
            <a:br>
              <a:rPr lang="en-GB" sz="3100" b="1" dirty="0">
                <a:latin typeface="Arial Rounded MT Bold" panose="020F0704030504030204" pitchFamily="34" charset="0"/>
              </a:rPr>
            </a:br>
            <a:br>
              <a:rPr lang="en-GB" sz="3100" b="1" dirty="0">
                <a:latin typeface="Arial Rounded MT Bold" panose="020F0704030504030204" pitchFamily="34" charset="0"/>
              </a:rPr>
            </a:br>
            <a:br>
              <a:rPr lang="en-GB" sz="3100" b="1" dirty="0">
                <a:latin typeface="Arial Rounded MT Bold" panose="020F0704030504030204" pitchFamily="34" charset="0"/>
              </a:rPr>
            </a:br>
            <a:br>
              <a:rPr lang="en-GB" sz="3200" dirty="0"/>
            </a:br>
            <a:br>
              <a:rPr lang="en-GB" sz="3200"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546788" y="4663923"/>
            <a:ext cx="7827947" cy="954107"/>
          </a:xfrm>
          <a:prstGeom prst="rect">
            <a:avLst/>
          </a:prstGeom>
          <a:noFill/>
        </p:spPr>
        <p:txBody>
          <a:bodyPr wrap="square" rtlCol="0">
            <a:spAutoFit/>
          </a:bodyPr>
          <a:lstStyle/>
          <a:p>
            <a:r>
              <a:rPr lang="en-US" sz="2800" b="1" dirty="0">
                <a:latin typeface="Arial Rounded MT Bold" panose="020F0704030504030204" pitchFamily="34" charset="0"/>
              </a:rPr>
              <a:t>AICTE STU ID :- (STU6a2c2581ab2571781278081)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31492" y="1512606"/>
            <a:ext cx="6546268" cy="3970937"/>
          </a:xfrm>
        </p:spPr>
        <p:txBody>
          <a:bodyPr vert="horz" lIns="91440" tIns="45720" rIns="91440" bIns="45720" rtlCol="0" anchor="t">
            <a:noAutofit/>
          </a:bodyPr>
          <a:lstStyle/>
          <a:p>
            <a:pPr>
              <a:lnSpc>
                <a:spcPct val="150000"/>
              </a:lnSpc>
            </a:pPr>
            <a:r>
              <a:rPr lang="en-GB" sz="1700" b="1" dirty="0">
                <a:solidFill>
                  <a:schemeClr val="tx1">
                    <a:lumMod val="95000"/>
                    <a:lumOff val="5000"/>
                  </a:schemeClr>
                </a:solidFill>
                <a:latin typeface="Arial Rounded MT Bold" panose="020F0704030504030204" pitchFamily="34" charset="0"/>
              </a:rPr>
              <a:t>Agricultural activities are influenced by seasonal variations in environmental conditions, farming practices, resource availability, and market conditions, causing agricultural performance to differ from one season to another. However, raw agricultural data does not clearly explain how performance changes across seasons or what patterns can be observed under different seasonal conditions.  The core problem is to </a:t>
            </a:r>
            <a:r>
              <a:rPr lang="en-GB" sz="1700" b="1" dirty="0" err="1">
                <a:solidFill>
                  <a:schemeClr val="tx1">
                    <a:lumMod val="95000"/>
                    <a:lumOff val="5000"/>
                  </a:schemeClr>
                </a:solidFill>
                <a:latin typeface="Arial Rounded MT Bold" panose="020F0704030504030204" pitchFamily="34" charset="0"/>
              </a:rPr>
              <a:t>analyze</a:t>
            </a:r>
            <a:r>
              <a:rPr lang="en-GB" sz="1700" b="1" dirty="0">
                <a:solidFill>
                  <a:schemeClr val="tx1">
                    <a:lumMod val="95000"/>
                    <a:lumOff val="5000"/>
                  </a:schemeClr>
                </a:solidFill>
                <a:latin typeface="Arial Rounded MT Bold" panose="020F0704030504030204" pitchFamily="34" charset="0"/>
              </a:rPr>
              <a:t> the given agricultural dataset and investigate these seasonal differences in agricultural performance by identifying meaningful patterns, trends, relationships, and variations within the available data. </a:t>
            </a:r>
            <a:endParaRPr lang="en-IN" sz="1700" b="1" dirty="0">
              <a:solidFill>
                <a:schemeClr val="tx1">
                  <a:lumMod val="95000"/>
                  <a:lumOff val="5000"/>
                </a:schemeClr>
              </a:solidFill>
              <a:latin typeface="Arial Rounded MT Bold" panose="020F070403050403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848606" y="584346"/>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56994" y="412107"/>
            <a:ext cx="6276109" cy="830997"/>
          </a:xfrm>
        </p:spPr>
        <p:txBody>
          <a:bodyPr>
            <a:normAutofit fontScale="90000"/>
          </a:bodyPr>
          <a:lstStyle/>
          <a:p>
            <a:r>
              <a:rPr lang="en-GB" dirty="0"/>
              <a:t>Project Description :-</a:t>
            </a:r>
            <a:br>
              <a:rPr lang="en-GB" dirty="0"/>
            </a:br>
            <a:r>
              <a:rPr lang="en-GB" sz="1800" dirty="0">
                <a:latin typeface="Arial Rounded MT Bold" panose="020F0704030504030204" pitchFamily="34" charset="0"/>
              </a:rPr>
              <a:t>[</a:t>
            </a:r>
            <a:r>
              <a:rPr lang="en-GB" sz="1400" dirty="0">
                <a:solidFill>
                  <a:schemeClr val="tx1">
                    <a:lumMod val="95000"/>
                    <a:lumOff val="5000"/>
                  </a:schemeClr>
                </a:solidFill>
                <a:latin typeface="Arial Rounded MT Bold" panose="020F0704030504030204" pitchFamily="34" charset="0"/>
              </a:rPr>
              <a:t>The "Seasonal Agriculture Performance Analysis" project investigates how agricultural outcomes, resource usage, and profitability fluctuate across different farming seasons. The analysis processes a 4,000-record dataset spanning the Kharif, Rabi, and Zaid seasons to transition raw agricultural data into actionable planning strategies. </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r>
              <a:rPr lang="en-GB" sz="1400" dirty="0">
                <a:solidFill>
                  <a:schemeClr val="tx1">
                    <a:lumMod val="95000"/>
                    <a:lumOff val="5000"/>
                  </a:schemeClr>
                </a:solidFill>
                <a:latin typeface="Arial Rounded MT Bold" panose="020F0704030504030204" pitchFamily="34" charset="0"/>
              </a:rPr>
              <a:t>Objective: To explore environmental conditions, compare agricultural performance across seasons, and identify significant economic trends to support evidence-based agricultural planning. </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r>
              <a:rPr lang="en-GB" sz="1400" dirty="0">
                <a:solidFill>
                  <a:schemeClr val="tx1">
                    <a:lumMod val="95000"/>
                    <a:lumOff val="5000"/>
                  </a:schemeClr>
                </a:solidFill>
                <a:latin typeface="Arial Rounded MT Bold" panose="020F0704030504030204" pitchFamily="34" charset="0"/>
              </a:rPr>
              <a:t>Methodology: The project utilizes data cleaning (imputing missing values), exploratory data analysis (mapping temperature, rainfall, and resource dependencies), and economic evaluation (calculating yield, revenue, and profit per crop type). Python libraries like Pandas, Matplotlib, and Seaborn were used for statistical analysis and visualization. </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r>
              <a:rPr lang="en-GB" sz="1400" dirty="0">
                <a:solidFill>
                  <a:schemeClr val="tx1">
                    <a:lumMod val="95000"/>
                    <a:lumOff val="5000"/>
                  </a:schemeClr>
                </a:solidFill>
                <a:latin typeface="Arial Rounded MT Bold" panose="020F0704030504030204" pitchFamily="34" charset="0"/>
              </a:rPr>
              <a:t>Key Findings: The Kharif season offers the most </a:t>
            </a:r>
            <a:r>
              <a:rPr lang="en-GB" sz="1400" dirty="0" err="1">
                <a:solidFill>
                  <a:schemeClr val="tx1">
                    <a:lumMod val="95000"/>
                    <a:lumOff val="5000"/>
                  </a:schemeClr>
                </a:solidFill>
                <a:latin typeface="Arial Rounded MT Bold" panose="020F0704030504030204" pitchFamily="34" charset="0"/>
              </a:rPr>
              <a:t>favorable</a:t>
            </a:r>
            <a:r>
              <a:rPr lang="en-GB" sz="1400" dirty="0">
                <a:solidFill>
                  <a:schemeClr val="tx1">
                    <a:lumMod val="95000"/>
                    <a:lumOff val="5000"/>
                  </a:schemeClr>
                </a:solidFill>
                <a:latin typeface="Arial Rounded MT Bold" panose="020F0704030504030204" pitchFamily="34" charset="0"/>
              </a:rPr>
              <a:t> environmental conditions (high rainfall and soil moisture) and the highest average profitability. Conversely, the Zaid season is highly resource-intensive, demanding maximum water usage while staple crops generate heavy financial losses. </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r>
              <a:rPr lang="en-GB" sz="1400" dirty="0">
                <a:solidFill>
                  <a:schemeClr val="tx1">
                    <a:lumMod val="95000"/>
                    <a:lumOff val="5000"/>
                  </a:schemeClr>
                </a:solidFill>
                <a:latin typeface="Arial Rounded MT Bold" panose="020F0704030504030204" pitchFamily="34" charset="0"/>
              </a:rPr>
              <a:t>Final Recommendations: Stakeholders should restrict water-intensive staple crops (Rice, Maize, Wheat) during the harsh Zaid season and prioritize resilient cash crops (Sugarcane, Chilli) year-round to maintain financial stability.]</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endParaRPr lang="en-IN" sz="1400" dirty="0">
              <a:solidFill>
                <a:schemeClr val="tx1">
                  <a:lumMod val="95000"/>
                  <a:lumOff val="5000"/>
                </a:schemeClr>
              </a:solidFill>
              <a:latin typeface="Arial Rounded MT Bold" panose="020F070403050403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30802" y="1679258"/>
            <a:ext cx="7904481" cy="3806469"/>
          </a:xfrm>
        </p:spPr>
        <p:txBody>
          <a:bodyPr>
            <a:normAutofit fontScale="25000" lnSpcReduction="20000"/>
          </a:bodyPr>
          <a:lstStyle/>
          <a:p>
            <a:pPr algn="just">
              <a:lnSpc>
                <a:spcPct val="150000"/>
              </a:lnSpc>
            </a:pPr>
            <a:r>
              <a:rPr lang="en-GB" sz="4800" b="1" dirty="0">
                <a:solidFill>
                  <a:schemeClr val="tx1">
                    <a:lumMod val="95000"/>
                    <a:lumOff val="5000"/>
                  </a:schemeClr>
                </a:solidFill>
                <a:latin typeface="Arial Rounded MT Bold" panose="020F0704030504030204" pitchFamily="34" charset="0"/>
              </a:rPr>
              <a:t>The primary end users and stakeholders who benefit from this seasonal agriculture analysis include:-</a:t>
            </a:r>
          </a:p>
          <a:p>
            <a:pPr algn="just">
              <a:lnSpc>
                <a:spcPct val="150000"/>
              </a:lnSpc>
            </a:pPr>
            <a:r>
              <a:rPr lang="en-GB" sz="4800" b="1" dirty="0">
                <a:solidFill>
                  <a:schemeClr val="tx1">
                    <a:lumMod val="95000"/>
                    <a:lumOff val="5000"/>
                  </a:schemeClr>
                </a:solidFill>
                <a:latin typeface="Arial Rounded MT Bold" panose="020F0704030504030204" pitchFamily="34" charset="0"/>
              </a:rPr>
              <a:t>Farmers and Farm Managers: Use the insights to select viable crop varieties by season, plan irrigation schedules, reduce input costs (fertilizer and pesticides), and avoid high-loss staple cultivation during harsh seasons like Zaid. </a:t>
            </a:r>
          </a:p>
          <a:p>
            <a:pPr algn="just">
              <a:lnSpc>
                <a:spcPct val="150000"/>
              </a:lnSpc>
            </a:pPr>
            <a:r>
              <a:rPr lang="en-GB" sz="4800" b="1" dirty="0">
                <a:solidFill>
                  <a:schemeClr val="tx1">
                    <a:lumMod val="95000"/>
                    <a:lumOff val="5000"/>
                  </a:schemeClr>
                </a:solidFill>
                <a:latin typeface="Arial Rounded MT Bold" panose="020F0704030504030204" pitchFamily="34" charset="0"/>
              </a:rPr>
              <a:t>Agricultural Policymakers and Government Agencies: Rely on the trends to support evidence-based agricultural planning, allocate regional water resources, structure seasonal subsidies, and establish fair Minimum Support Prices (MSP). </a:t>
            </a:r>
          </a:p>
          <a:p>
            <a:pPr algn="just">
              <a:lnSpc>
                <a:spcPct val="150000"/>
              </a:lnSpc>
            </a:pPr>
            <a:r>
              <a:rPr lang="en-GB" sz="4800" b="1" dirty="0">
                <a:solidFill>
                  <a:schemeClr val="tx1">
                    <a:lumMod val="95000"/>
                    <a:lumOff val="5000"/>
                  </a:schemeClr>
                </a:solidFill>
                <a:latin typeface="Arial Rounded MT Bold" panose="020F0704030504030204" pitchFamily="34" charset="0"/>
              </a:rPr>
              <a:t>Agricultural Extension and Advisory Services: Translate the data-driven patterns into practical, localized guidance for farming communities regarding optimal planting cycles and resource efficiency. </a:t>
            </a:r>
          </a:p>
          <a:p>
            <a:pPr algn="just">
              <a:lnSpc>
                <a:spcPct val="150000"/>
              </a:lnSpc>
            </a:pPr>
            <a:r>
              <a:rPr lang="en-GB" sz="4800" b="1" dirty="0">
                <a:solidFill>
                  <a:schemeClr val="tx1">
                    <a:lumMod val="95000"/>
                    <a:lumOff val="5000"/>
                  </a:schemeClr>
                </a:solidFill>
                <a:latin typeface="Arial Rounded MT Bold" panose="020F0704030504030204" pitchFamily="34" charset="0"/>
              </a:rPr>
              <a:t>Irrigation and Water Resource Authorities: Utilize water consumption patterns across seasons to forecast reservoir demand and balance irrigation distribution between wet (Kharif) and dry (Zaid) periods. </a:t>
            </a:r>
          </a:p>
          <a:p>
            <a:pPr algn="just">
              <a:lnSpc>
                <a:spcPct val="150000"/>
              </a:lnSpc>
            </a:pPr>
            <a:r>
              <a:rPr lang="en-GB" sz="4800" b="1" dirty="0">
                <a:solidFill>
                  <a:schemeClr val="tx1">
                    <a:lumMod val="95000"/>
                    <a:lumOff val="5000"/>
                  </a:schemeClr>
                </a:solidFill>
                <a:latin typeface="Arial Rounded MT Bold" panose="020F0704030504030204" pitchFamily="34" charset="0"/>
              </a:rPr>
              <a:t>Agri-Financiers and Crop Insurers: Assess seasonal financial risk profiles, design targeted crop insurance schemes, and adjust seasonal credit lines based on realistic expected profit margins.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732449" y="1315059"/>
            <a:ext cx="9027702" cy="5243448"/>
          </a:xfrm>
        </p:spPr>
        <p:txBody>
          <a:bodyPr>
            <a:normAutofit fontScale="25000" lnSpcReduction="20000"/>
          </a:bodyPr>
          <a:lstStyle/>
          <a:p>
            <a:pPr lvl="1">
              <a:lnSpc>
                <a:spcPct val="150000"/>
              </a:lnSpc>
            </a:pPr>
            <a:r>
              <a:rPr lang="en-IN" sz="4800" b="1" dirty="0">
                <a:solidFill>
                  <a:schemeClr val="tx1">
                    <a:lumMod val="95000"/>
                    <a:lumOff val="5000"/>
                  </a:schemeClr>
                </a:solidFill>
                <a:latin typeface="Arial Rounded MT Bold" panose="020F0704030504030204" pitchFamily="34" charset="0"/>
              </a:rPr>
              <a:t>The technologies and software tools used to execute this project include:</a:t>
            </a:r>
          </a:p>
          <a:p>
            <a:pPr lvl="1">
              <a:lnSpc>
                <a:spcPct val="150000"/>
              </a:lnSpc>
            </a:pPr>
            <a:r>
              <a:rPr lang="en-IN" sz="4800" b="1" dirty="0">
                <a:solidFill>
                  <a:schemeClr val="tx1">
                    <a:lumMod val="95000"/>
                    <a:lumOff val="5000"/>
                  </a:schemeClr>
                </a:solidFill>
                <a:latin typeface="Arial Rounded MT Bold" panose="020F0704030504030204" pitchFamily="34" charset="0"/>
              </a:rPr>
              <a:t>Programming Language: Python 3</a:t>
            </a:r>
          </a:p>
          <a:p>
            <a:pPr lvl="1">
              <a:lnSpc>
                <a:spcPct val="150000"/>
              </a:lnSpc>
            </a:pPr>
            <a:r>
              <a:rPr lang="en-IN" sz="4800" b="1" dirty="0">
                <a:solidFill>
                  <a:schemeClr val="tx1">
                    <a:lumMod val="95000"/>
                    <a:lumOff val="5000"/>
                  </a:schemeClr>
                </a:solidFill>
                <a:latin typeface="Arial Rounded MT Bold" panose="020F0704030504030204" pitchFamily="34" charset="0"/>
              </a:rPr>
              <a:t>Development Environment: Google Collab Notebook (used for step-by-step code execution, documentation, and markdown reporting) </a:t>
            </a:r>
          </a:p>
          <a:p>
            <a:pPr lvl="1">
              <a:lnSpc>
                <a:spcPct val="150000"/>
              </a:lnSpc>
            </a:pPr>
            <a:r>
              <a:rPr lang="en-IN" sz="4800" b="1" dirty="0">
                <a:solidFill>
                  <a:schemeClr val="tx1">
                    <a:lumMod val="95000"/>
                    <a:lumOff val="5000"/>
                  </a:schemeClr>
                </a:solidFill>
                <a:latin typeface="Arial Rounded MT Bold" panose="020F0704030504030204" pitchFamily="34" charset="0"/>
              </a:rPr>
              <a:t>Data Manipulation &amp; Analysis Libraries:</a:t>
            </a:r>
          </a:p>
          <a:p>
            <a:pPr lvl="1">
              <a:lnSpc>
                <a:spcPct val="150000"/>
              </a:lnSpc>
            </a:pPr>
            <a:r>
              <a:rPr lang="en-IN" sz="4800" b="1" dirty="0">
                <a:solidFill>
                  <a:schemeClr val="tx1">
                    <a:lumMod val="95000"/>
                    <a:lumOff val="5000"/>
                  </a:schemeClr>
                </a:solidFill>
                <a:latin typeface="Arial Rounded MT Bold" panose="020F0704030504030204" pitchFamily="34" charset="0"/>
              </a:rPr>
              <a:t>Pandas: Used for loading the tabular dataset, data cleaning, median imputation of missing values, filtering, and multi-variable aggregation.</a:t>
            </a:r>
          </a:p>
          <a:p>
            <a:pPr lvl="1">
              <a:lnSpc>
                <a:spcPct val="150000"/>
              </a:lnSpc>
            </a:pPr>
            <a:r>
              <a:rPr lang="en-IN" sz="4800" b="1" dirty="0">
                <a:solidFill>
                  <a:schemeClr val="tx1">
                    <a:lumMod val="95000"/>
                    <a:lumOff val="5000"/>
                  </a:schemeClr>
                </a:solidFill>
                <a:latin typeface="Arial Rounded MT Bold" panose="020F0704030504030204" pitchFamily="34" charset="0"/>
              </a:rPr>
              <a:t>NumPy: Used for numerical computing and vector math operations.</a:t>
            </a:r>
          </a:p>
          <a:p>
            <a:pPr lvl="1">
              <a:lnSpc>
                <a:spcPct val="150000"/>
              </a:lnSpc>
            </a:pPr>
            <a:r>
              <a:rPr lang="en-IN" sz="4800" b="1" dirty="0">
                <a:solidFill>
                  <a:schemeClr val="tx1">
                    <a:lumMod val="95000"/>
                    <a:lumOff val="5000"/>
                  </a:schemeClr>
                </a:solidFill>
                <a:latin typeface="Arial Rounded MT Bold" panose="020F0704030504030204" pitchFamily="34" charset="0"/>
              </a:rPr>
              <a:t>Data Visualization Libraries:</a:t>
            </a:r>
          </a:p>
          <a:p>
            <a:pPr lvl="1">
              <a:lnSpc>
                <a:spcPct val="150000"/>
              </a:lnSpc>
            </a:pPr>
            <a:r>
              <a:rPr lang="en-IN" sz="4800" b="1" dirty="0">
                <a:solidFill>
                  <a:schemeClr val="tx1">
                    <a:lumMod val="95000"/>
                    <a:lumOff val="5000"/>
                  </a:schemeClr>
                </a:solidFill>
                <a:latin typeface="Arial Rounded MT Bold" panose="020F0704030504030204" pitchFamily="34" charset="0"/>
              </a:rPr>
              <a:t>Matplotlib (</a:t>
            </a:r>
            <a:r>
              <a:rPr lang="en-IN" sz="4800" b="1" dirty="0" err="1">
                <a:solidFill>
                  <a:schemeClr val="tx1">
                    <a:lumMod val="95000"/>
                    <a:lumOff val="5000"/>
                  </a:schemeClr>
                </a:solidFill>
                <a:latin typeface="Arial Rounded MT Bold" panose="020F0704030504030204" pitchFamily="34" charset="0"/>
              </a:rPr>
              <a:t>matplotlib.pyplot</a:t>
            </a:r>
            <a:r>
              <a:rPr lang="en-IN" sz="4800" b="1" dirty="0">
                <a:solidFill>
                  <a:schemeClr val="tx1">
                    <a:lumMod val="95000"/>
                    <a:lumOff val="5000"/>
                  </a:schemeClr>
                </a:solidFill>
                <a:latin typeface="Arial Rounded MT Bold" panose="020F0704030504030204" pitchFamily="34" charset="0"/>
              </a:rPr>
              <a:t>): Used for configuring visual layouts, subplots, bar charts, and exporting image assets. </a:t>
            </a:r>
          </a:p>
          <a:p>
            <a:pPr lvl="1">
              <a:lnSpc>
                <a:spcPct val="150000"/>
              </a:lnSpc>
            </a:pPr>
            <a:r>
              <a:rPr lang="en-IN" sz="4800" b="1" dirty="0">
                <a:solidFill>
                  <a:schemeClr val="tx1">
                    <a:lumMod val="95000"/>
                    <a:lumOff val="5000"/>
                  </a:schemeClr>
                </a:solidFill>
                <a:latin typeface="Arial Rounded MT Bold" panose="020F0704030504030204" pitchFamily="34" charset="0"/>
              </a:rPr>
              <a:t>Seaborn: Used for theme styling, multi-variable scatter plots, and comparative distribution plots. </a:t>
            </a:r>
          </a:p>
          <a:p>
            <a:pPr lvl="1">
              <a:lnSpc>
                <a:spcPct val="150000"/>
              </a:lnSpc>
            </a:pPr>
            <a:r>
              <a:rPr lang="en-IN" sz="4800" b="1" dirty="0">
                <a:solidFill>
                  <a:schemeClr val="tx1">
                    <a:lumMod val="95000"/>
                    <a:lumOff val="5000"/>
                  </a:schemeClr>
                </a:solidFill>
                <a:latin typeface="Arial Rounded MT Bold" panose="020F0704030504030204" pitchFamily="34" charset="0"/>
              </a:rPr>
              <a:t>File Formats &amp; Data Storage:</a:t>
            </a:r>
          </a:p>
          <a:p>
            <a:pPr lvl="1">
              <a:lnSpc>
                <a:spcPct val="150000"/>
              </a:lnSpc>
            </a:pPr>
            <a:r>
              <a:rPr lang="en-IN" sz="4800" b="1" dirty="0">
                <a:solidFill>
                  <a:schemeClr val="tx1">
                    <a:lumMod val="95000"/>
                    <a:lumOff val="5000"/>
                  </a:schemeClr>
                </a:solidFill>
                <a:latin typeface="Arial Rounded MT Bold" panose="020F0704030504030204" pitchFamily="34" charset="0"/>
              </a:rPr>
              <a:t>CSV (Comma-Separated Values): Primary structured storage format for the 4,000-record agricultural dataset.</a:t>
            </a:r>
          </a:p>
          <a:p>
            <a:pPr lvl="1">
              <a:lnSpc>
                <a:spcPct val="150000"/>
              </a:lnSpc>
            </a:pPr>
            <a:r>
              <a:rPr lang="en-IN" sz="4800" b="1" dirty="0">
                <a:solidFill>
                  <a:schemeClr val="tx1">
                    <a:lumMod val="95000"/>
                    <a:lumOff val="5000"/>
                  </a:schemeClr>
                </a:solidFill>
                <a:latin typeface="Arial Rounded MT Bold" panose="020F0704030504030204" pitchFamily="34" charset="0"/>
              </a:rPr>
              <a:t>Markdown / Plain Text: Used for structured sectioning inside the notebook and exporting the final data-driven summary.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96715" y="193041"/>
            <a:ext cx="3560885" cy="1008546"/>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39" y="1036611"/>
            <a:ext cx="4275138" cy="477520"/>
          </a:xfrm>
        </p:spPr>
        <p:txBody>
          <a:bodyPr vert="horz" lIns="91440" tIns="45720" rIns="91440" bIns="45720" rtlCol="0" anchor="t">
            <a:normAutofit/>
          </a:bodyPr>
          <a:lstStyle/>
          <a:p>
            <a:pPr marL="0" indent="0">
              <a:buNone/>
            </a:pPr>
            <a:r>
              <a:rPr lang="en-IN" b="1" dirty="0">
                <a:solidFill>
                  <a:schemeClr val="tx1">
                    <a:lumMod val="95000"/>
                    <a:lumOff val="5000"/>
                  </a:schemeClr>
                </a:solidFill>
                <a:latin typeface="Arial Rounded MT Bold" panose="020F0704030504030204" pitchFamily="34" charset="0"/>
              </a:rPr>
              <a:t>[Screenshot of codes] </a:t>
            </a:r>
          </a:p>
        </p:txBody>
      </p:sp>
      <p:pic>
        <p:nvPicPr>
          <p:cNvPr id="24" name="Picture 23">
            <a:extLst>
              <a:ext uri="{FF2B5EF4-FFF2-40B4-BE49-F238E27FC236}">
                <a16:creationId xmlns:a16="http://schemas.microsoft.com/office/drawing/2014/main" id="{B067DD6E-23A1-6B70-9FF8-31450BB02436}"/>
              </a:ext>
            </a:extLst>
          </p:cNvPr>
          <p:cNvPicPr>
            <a:picLocks noChangeAspect="1"/>
          </p:cNvPicPr>
          <p:nvPr/>
        </p:nvPicPr>
        <p:blipFill>
          <a:blip r:embed="rId3"/>
          <a:stretch>
            <a:fillRect/>
          </a:stretch>
        </p:blipFill>
        <p:spPr>
          <a:xfrm>
            <a:off x="2898368" y="0"/>
            <a:ext cx="4138448" cy="6858000"/>
          </a:xfrm>
          <a:prstGeom prst="rect">
            <a:avLst/>
          </a:prstGeom>
        </p:spPr>
      </p:pic>
      <p:pic>
        <p:nvPicPr>
          <p:cNvPr id="26" name="Picture 25">
            <a:extLst>
              <a:ext uri="{FF2B5EF4-FFF2-40B4-BE49-F238E27FC236}">
                <a16:creationId xmlns:a16="http://schemas.microsoft.com/office/drawing/2014/main" id="{7D363FAC-6F29-7727-2F90-410BC5F50477}"/>
              </a:ext>
            </a:extLst>
          </p:cNvPr>
          <p:cNvPicPr>
            <a:picLocks noChangeAspect="1"/>
          </p:cNvPicPr>
          <p:nvPr/>
        </p:nvPicPr>
        <p:blipFill>
          <a:blip r:embed="rId4"/>
          <a:stretch>
            <a:fillRect/>
          </a:stretch>
        </p:blipFill>
        <p:spPr>
          <a:xfrm>
            <a:off x="7224409" y="1201586"/>
            <a:ext cx="5244645" cy="553340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132046" y="18556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5458" y="914400"/>
            <a:ext cx="4381547" cy="535274"/>
          </a:xfrm>
        </p:spPr>
        <p:txBody>
          <a:bodyPr/>
          <a:lstStyle/>
          <a:p>
            <a:pPr marL="0" indent="0">
              <a:buNone/>
            </a:pPr>
            <a:r>
              <a:rPr lang="en-US" b="1" dirty="0">
                <a:solidFill>
                  <a:schemeClr val="tx1">
                    <a:lumMod val="95000"/>
                    <a:lumOff val="5000"/>
                  </a:schemeClr>
                </a:solidFill>
                <a:latin typeface="Arial Rounded MT Bold" panose="020F0704030504030204" pitchFamily="34" charset="0"/>
              </a:rPr>
              <a:t>[screenshot of codes]</a:t>
            </a:r>
            <a:endParaRPr lang="en-IN" b="1" dirty="0">
              <a:solidFill>
                <a:schemeClr val="tx1">
                  <a:lumMod val="95000"/>
                  <a:lumOff val="5000"/>
                </a:schemeClr>
              </a:solidFill>
              <a:latin typeface="Arial Rounded MT Bold" panose="020F0704030504030204" pitchFamily="34" charset="0"/>
            </a:endParaRPr>
          </a:p>
        </p:txBody>
      </p:sp>
      <p:pic>
        <p:nvPicPr>
          <p:cNvPr id="3" name="Picture 2">
            <a:extLst>
              <a:ext uri="{FF2B5EF4-FFF2-40B4-BE49-F238E27FC236}">
                <a16:creationId xmlns:a16="http://schemas.microsoft.com/office/drawing/2014/main" id="{2DAA18F3-94EE-7AEF-1DE5-6C04B42DE74F}"/>
              </a:ext>
            </a:extLst>
          </p:cNvPr>
          <p:cNvPicPr>
            <a:picLocks noChangeAspect="1"/>
          </p:cNvPicPr>
          <p:nvPr/>
        </p:nvPicPr>
        <p:blipFill>
          <a:blip r:embed="rId3"/>
          <a:stretch>
            <a:fillRect/>
          </a:stretch>
        </p:blipFill>
        <p:spPr>
          <a:xfrm>
            <a:off x="2735182" y="314475"/>
            <a:ext cx="5390165" cy="5702195"/>
          </a:xfrm>
          <a:prstGeom prst="rect">
            <a:avLst/>
          </a:prstGeom>
        </p:spPr>
      </p:pic>
      <p:pic>
        <p:nvPicPr>
          <p:cNvPr id="9" name="Picture 8">
            <a:extLst>
              <a:ext uri="{FF2B5EF4-FFF2-40B4-BE49-F238E27FC236}">
                <a16:creationId xmlns:a16="http://schemas.microsoft.com/office/drawing/2014/main" id="{81311F1A-36B7-5CE8-67A0-2C151038458B}"/>
              </a:ext>
            </a:extLst>
          </p:cNvPr>
          <p:cNvPicPr>
            <a:picLocks noChangeAspect="1"/>
          </p:cNvPicPr>
          <p:nvPr/>
        </p:nvPicPr>
        <p:blipFill>
          <a:blip r:embed="rId4"/>
          <a:stretch>
            <a:fillRect/>
          </a:stretch>
        </p:blipFill>
        <p:spPr>
          <a:xfrm>
            <a:off x="7963367" y="606669"/>
            <a:ext cx="5001404" cy="531957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78080" y="10703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1" y="782515"/>
            <a:ext cx="4353219" cy="562947"/>
          </a:xfrm>
        </p:spPr>
        <p:txBody>
          <a:bodyPr>
            <a:normAutofit/>
          </a:bodyPr>
          <a:lstStyle/>
          <a:p>
            <a:pPr marL="0" indent="0">
              <a:buNone/>
            </a:pPr>
            <a:r>
              <a:rPr lang="en-US" sz="1800" b="1" dirty="0">
                <a:solidFill>
                  <a:schemeClr val="tx1">
                    <a:lumMod val="95000"/>
                    <a:lumOff val="5000"/>
                  </a:schemeClr>
                </a:solidFill>
                <a:latin typeface="Arial Rounded MT Bold" panose="020F0704030504030204" pitchFamily="34" charset="0"/>
              </a:rPr>
              <a:t>[screenshot of codes]</a:t>
            </a:r>
            <a:endParaRPr lang="en-IN" sz="1800" b="1" dirty="0">
              <a:solidFill>
                <a:schemeClr val="tx1">
                  <a:lumMod val="95000"/>
                  <a:lumOff val="5000"/>
                </a:schemeClr>
              </a:solidFill>
              <a:latin typeface="Arial Rounded MT Bold" panose="020F0704030504030204" pitchFamily="34" charset="0"/>
            </a:endParaRPr>
          </a:p>
        </p:txBody>
      </p:sp>
      <p:pic>
        <p:nvPicPr>
          <p:cNvPr id="3" name="Picture 2">
            <a:extLst>
              <a:ext uri="{FF2B5EF4-FFF2-40B4-BE49-F238E27FC236}">
                <a16:creationId xmlns:a16="http://schemas.microsoft.com/office/drawing/2014/main" id="{9F9FD0D6-31B4-0C35-2826-677B3F7665D8}"/>
              </a:ext>
            </a:extLst>
          </p:cNvPr>
          <p:cNvPicPr>
            <a:picLocks noChangeAspect="1"/>
          </p:cNvPicPr>
          <p:nvPr/>
        </p:nvPicPr>
        <p:blipFill>
          <a:blip r:embed="rId3"/>
          <a:stretch>
            <a:fillRect/>
          </a:stretch>
        </p:blipFill>
        <p:spPr>
          <a:xfrm>
            <a:off x="2555713" y="0"/>
            <a:ext cx="5637831" cy="5717495"/>
          </a:xfrm>
          <a:prstGeom prst="rect">
            <a:avLst/>
          </a:prstGeom>
        </p:spPr>
      </p:pic>
      <p:pic>
        <p:nvPicPr>
          <p:cNvPr id="9" name="Picture 8">
            <a:extLst>
              <a:ext uri="{FF2B5EF4-FFF2-40B4-BE49-F238E27FC236}">
                <a16:creationId xmlns:a16="http://schemas.microsoft.com/office/drawing/2014/main" id="{1BBD3E0F-DB86-0323-29E4-C95184ADE7C6}"/>
              </a:ext>
            </a:extLst>
          </p:cNvPr>
          <p:cNvPicPr>
            <a:picLocks noChangeAspect="1"/>
          </p:cNvPicPr>
          <p:nvPr/>
        </p:nvPicPr>
        <p:blipFill>
          <a:blip r:embed="rId4"/>
          <a:stretch>
            <a:fillRect/>
          </a:stretch>
        </p:blipFill>
        <p:spPr>
          <a:xfrm>
            <a:off x="8003481" y="300201"/>
            <a:ext cx="5335391" cy="541729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1546" y="193040"/>
            <a:ext cx="3596055" cy="100854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0" y="942332"/>
            <a:ext cx="4345694" cy="666078"/>
          </a:xfrm>
        </p:spPr>
        <p:txBody>
          <a:bodyPr>
            <a:normAutofit/>
          </a:bodyPr>
          <a:lstStyle/>
          <a:p>
            <a:pPr marL="0" indent="0">
              <a:buNone/>
            </a:pPr>
            <a:r>
              <a:rPr lang="en-US" sz="1800" b="1" dirty="0">
                <a:solidFill>
                  <a:schemeClr val="tx1">
                    <a:lumMod val="95000"/>
                    <a:lumOff val="5000"/>
                  </a:schemeClr>
                </a:solidFill>
                <a:latin typeface="Arial Rounded MT Bold" panose="020F0704030504030204" pitchFamily="34" charset="0"/>
              </a:rPr>
              <a:t>[screen shot of codes ]</a:t>
            </a:r>
            <a:endParaRPr lang="en-IN" sz="1800" b="1" dirty="0">
              <a:solidFill>
                <a:schemeClr val="tx1">
                  <a:lumMod val="95000"/>
                  <a:lumOff val="5000"/>
                </a:schemeClr>
              </a:solidFill>
              <a:latin typeface="Arial Rounded MT Bold" panose="020F0704030504030204" pitchFamily="34" charset="0"/>
            </a:endParaRPr>
          </a:p>
        </p:txBody>
      </p:sp>
      <p:pic>
        <p:nvPicPr>
          <p:cNvPr id="3" name="Picture 2">
            <a:extLst>
              <a:ext uri="{FF2B5EF4-FFF2-40B4-BE49-F238E27FC236}">
                <a16:creationId xmlns:a16="http://schemas.microsoft.com/office/drawing/2014/main" id="{3C587B91-5218-FDA7-0D3E-8286E9096556}"/>
              </a:ext>
            </a:extLst>
          </p:cNvPr>
          <p:cNvPicPr>
            <a:picLocks noChangeAspect="1"/>
          </p:cNvPicPr>
          <p:nvPr/>
        </p:nvPicPr>
        <p:blipFill>
          <a:blip r:embed="rId3"/>
          <a:stretch>
            <a:fillRect/>
          </a:stretch>
        </p:blipFill>
        <p:spPr>
          <a:xfrm>
            <a:off x="2681655" y="193040"/>
            <a:ext cx="6222024" cy="5227870"/>
          </a:xfrm>
          <a:prstGeom prst="rect">
            <a:avLst/>
          </a:prstGeom>
        </p:spPr>
      </p:pic>
      <p:pic>
        <p:nvPicPr>
          <p:cNvPr id="9" name="Picture 8">
            <a:extLst>
              <a:ext uri="{FF2B5EF4-FFF2-40B4-BE49-F238E27FC236}">
                <a16:creationId xmlns:a16="http://schemas.microsoft.com/office/drawing/2014/main" id="{CDD78A04-7455-DB4B-968A-DC152E834F21}"/>
              </a:ext>
            </a:extLst>
          </p:cNvPr>
          <p:cNvPicPr>
            <a:picLocks noChangeAspect="1"/>
          </p:cNvPicPr>
          <p:nvPr/>
        </p:nvPicPr>
        <p:blipFill>
          <a:blip r:embed="rId4"/>
          <a:stretch>
            <a:fillRect/>
          </a:stretch>
        </p:blipFill>
        <p:spPr>
          <a:xfrm>
            <a:off x="8678138" y="308401"/>
            <a:ext cx="5541071" cy="46863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1" y="1"/>
            <a:ext cx="3657600" cy="1201586"/>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70338" y="707628"/>
            <a:ext cx="5152641" cy="1201586"/>
          </a:xfrm>
        </p:spPr>
        <p:txBody>
          <a:bodyPr>
            <a:normAutofit/>
          </a:bodyPr>
          <a:lstStyle/>
          <a:p>
            <a:pPr marL="0" indent="0">
              <a:buNone/>
            </a:pPr>
            <a:r>
              <a:rPr lang="en-US" sz="1800" b="1" dirty="0">
                <a:solidFill>
                  <a:schemeClr val="tx1">
                    <a:lumMod val="95000"/>
                    <a:lumOff val="5000"/>
                  </a:schemeClr>
                </a:solidFill>
                <a:latin typeface="Arial Rounded MT Bold" panose="020F0704030504030204" pitchFamily="34" charset="0"/>
              </a:rPr>
              <a:t>[screenshot of codes]</a:t>
            </a:r>
            <a:endParaRPr lang="en-IN" sz="1800" b="1" dirty="0">
              <a:solidFill>
                <a:schemeClr val="tx1">
                  <a:lumMod val="95000"/>
                  <a:lumOff val="5000"/>
                </a:schemeClr>
              </a:solidFill>
              <a:latin typeface="Arial Rounded MT Bold" panose="020F0704030504030204" pitchFamily="34" charset="0"/>
            </a:endParaRPr>
          </a:p>
        </p:txBody>
      </p:sp>
      <p:pic>
        <p:nvPicPr>
          <p:cNvPr id="3" name="Picture 2">
            <a:extLst>
              <a:ext uri="{FF2B5EF4-FFF2-40B4-BE49-F238E27FC236}">
                <a16:creationId xmlns:a16="http://schemas.microsoft.com/office/drawing/2014/main" id="{676E8406-7CE2-EEA6-338C-17D7B2EE082F}"/>
              </a:ext>
            </a:extLst>
          </p:cNvPr>
          <p:cNvPicPr>
            <a:picLocks noChangeAspect="1"/>
          </p:cNvPicPr>
          <p:nvPr/>
        </p:nvPicPr>
        <p:blipFill>
          <a:blip r:embed="rId3"/>
          <a:stretch>
            <a:fillRect/>
          </a:stretch>
        </p:blipFill>
        <p:spPr>
          <a:xfrm>
            <a:off x="2505982" y="-20212"/>
            <a:ext cx="6170584" cy="6170584"/>
          </a:xfrm>
          <a:prstGeom prst="rect">
            <a:avLst/>
          </a:prstGeom>
        </p:spPr>
      </p:pic>
      <p:pic>
        <p:nvPicPr>
          <p:cNvPr id="9" name="Picture 8">
            <a:extLst>
              <a:ext uri="{FF2B5EF4-FFF2-40B4-BE49-F238E27FC236}">
                <a16:creationId xmlns:a16="http://schemas.microsoft.com/office/drawing/2014/main" id="{36AC34E1-3A41-5B3A-00BB-4BAA44FE4A6D}"/>
              </a:ext>
            </a:extLst>
          </p:cNvPr>
          <p:cNvPicPr>
            <a:picLocks noChangeAspect="1"/>
          </p:cNvPicPr>
          <p:nvPr/>
        </p:nvPicPr>
        <p:blipFill>
          <a:blip r:embed="rId4"/>
          <a:stretch>
            <a:fillRect/>
          </a:stretch>
        </p:blipFill>
        <p:spPr>
          <a:xfrm>
            <a:off x="7998523" y="269523"/>
            <a:ext cx="6040982" cy="552441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90B12-D4D8-9DD8-37D9-3BCD3B02B70E}"/>
              </a:ext>
            </a:extLst>
          </p:cNvPr>
          <p:cNvSpPr>
            <a:spLocks noGrp="1"/>
          </p:cNvSpPr>
          <p:nvPr>
            <p:ph type="body" sz="quarter" idx="12"/>
          </p:nvPr>
        </p:nvSpPr>
        <p:spPr>
          <a:xfrm>
            <a:off x="-68366" y="666572"/>
            <a:ext cx="5003904" cy="4938892"/>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 shots of code]</a:t>
            </a:r>
          </a:p>
        </p:txBody>
      </p:sp>
      <p:sp>
        <p:nvSpPr>
          <p:cNvPr id="4" name="Title 3">
            <a:extLst>
              <a:ext uri="{FF2B5EF4-FFF2-40B4-BE49-F238E27FC236}">
                <a16:creationId xmlns:a16="http://schemas.microsoft.com/office/drawing/2014/main" id="{7A4737A0-CA33-6BFA-5D19-0D547B2934A2}"/>
              </a:ext>
            </a:extLst>
          </p:cNvPr>
          <p:cNvSpPr>
            <a:spLocks noGrp="1"/>
          </p:cNvSpPr>
          <p:nvPr>
            <p:ph type="title"/>
          </p:nvPr>
        </p:nvSpPr>
        <p:spPr>
          <a:xfrm>
            <a:off x="0" y="0"/>
            <a:ext cx="4275138" cy="830997"/>
          </a:xfrm>
        </p:spPr>
        <p:txBody>
          <a:bodyPr/>
          <a:lstStyle/>
          <a:p>
            <a:r>
              <a:rPr lang="en-GB" dirty="0"/>
              <a:t>RESULTS</a:t>
            </a:r>
          </a:p>
        </p:txBody>
      </p:sp>
      <p:pic>
        <p:nvPicPr>
          <p:cNvPr id="12" name="Picture 11">
            <a:extLst>
              <a:ext uri="{FF2B5EF4-FFF2-40B4-BE49-F238E27FC236}">
                <a16:creationId xmlns:a16="http://schemas.microsoft.com/office/drawing/2014/main" id="{23F8B571-5258-C4AA-FF7D-E10F0A57B20B}"/>
              </a:ext>
            </a:extLst>
          </p:cNvPr>
          <p:cNvPicPr>
            <a:picLocks noChangeAspect="1"/>
          </p:cNvPicPr>
          <p:nvPr/>
        </p:nvPicPr>
        <p:blipFill>
          <a:blip r:embed="rId2"/>
          <a:stretch>
            <a:fillRect/>
          </a:stretch>
        </p:blipFill>
        <p:spPr>
          <a:xfrm>
            <a:off x="2580829" y="128187"/>
            <a:ext cx="5505255" cy="5709842"/>
          </a:xfrm>
          <a:prstGeom prst="rect">
            <a:avLst/>
          </a:prstGeom>
        </p:spPr>
      </p:pic>
      <p:pic>
        <p:nvPicPr>
          <p:cNvPr id="14" name="Picture 13">
            <a:extLst>
              <a:ext uri="{FF2B5EF4-FFF2-40B4-BE49-F238E27FC236}">
                <a16:creationId xmlns:a16="http://schemas.microsoft.com/office/drawing/2014/main" id="{E20BCCE4-F8F5-0F12-1639-C2FBEEDA5DD3}"/>
              </a:ext>
            </a:extLst>
          </p:cNvPr>
          <p:cNvPicPr>
            <a:picLocks noChangeAspect="1"/>
          </p:cNvPicPr>
          <p:nvPr/>
        </p:nvPicPr>
        <p:blipFill>
          <a:blip r:embed="rId3"/>
          <a:stretch>
            <a:fillRect/>
          </a:stretch>
        </p:blipFill>
        <p:spPr>
          <a:xfrm>
            <a:off x="7916864" y="491331"/>
            <a:ext cx="5326151" cy="5114133"/>
          </a:xfrm>
          <a:prstGeom prst="rect">
            <a:avLst/>
          </a:prstGeom>
        </p:spPr>
      </p:pic>
    </p:spTree>
    <p:extLst>
      <p:ext uri="{BB962C8B-B14F-4D97-AF65-F5344CB8AC3E}">
        <p14:creationId xmlns:p14="http://schemas.microsoft.com/office/powerpoint/2010/main" val="1419374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4FC38F-8358-E65A-2EE6-4040281D6394}"/>
              </a:ext>
            </a:extLst>
          </p:cNvPr>
          <p:cNvSpPr>
            <a:spLocks noGrp="1"/>
          </p:cNvSpPr>
          <p:nvPr>
            <p:ph type="body" sz="quarter" idx="12"/>
          </p:nvPr>
        </p:nvSpPr>
        <p:spPr>
          <a:xfrm>
            <a:off x="0" y="666572"/>
            <a:ext cx="4935538" cy="4938891"/>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 shots of code]</a:t>
            </a:r>
          </a:p>
        </p:txBody>
      </p:sp>
      <p:sp>
        <p:nvSpPr>
          <p:cNvPr id="4" name="Title 3">
            <a:extLst>
              <a:ext uri="{FF2B5EF4-FFF2-40B4-BE49-F238E27FC236}">
                <a16:creationId xmlns:a16="http://schemas.microsoft.com/office/drawing/2014/main" id="{56EAE5A0-03A3-A6D1-0A37-BE473A8ACC71}"/>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C32B7786-26EF-8E44-E5FC-8DA1BBB99F29}"/>
              </a:ext>
            </a:extLst>
          </p:cNvPr>
          <p:cNvPicPr>
            <a:picLocks noChangeAspect="1"/>
          </p:cNvPicPr>
          <p:nvPr/>
        </p:nvPicPr>
        <p:blipFill>
          <a:blip r:embed="rId2"/>
          <a:stretch>
            <a:fillRect/>
          </a:stretch>
        </p:blipFill>
        <p:spPr>
          <a:xfrm>
            <a:off x="2726109" y="335141"/>
            <a:ext cx="8325004" cy="5634677"/>
          </a:xfrm>
          <a:prstGeom prst="rect">
            <a:avLst/>
          </a:prstGeom>
        </p:spPr>
      </p:pic>
    </p:spTree>
    <p:extLst>
      <p:ext uri="{BB962C8B-B14F-4D97-AF65-F5344CB8AC3E}">
        <p14:creationId xmlns:p14="http://schemas.microsoft.com/office/powerpoint/2010/main" val="3642163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C217D1-4DCC-7A25-C20B-440D38DEDF29}"/>
              </a:ext>
            </a:extLst>
          </p:cNvPr>
          <p:cNvSpPr>
            <a:spLocks noGrp="1"/>
          </p:cNvSpPr>
          <p:nvPr>
            <p:ph type="body" sz="quarter" idx="12"/>
          </p:nvPr>
        </p:nvSpPr>
        <p:spPr>
          <a:xfrm>
            <a:off x="0" y="640936"/>
            <a:ext cx="4935538" cy="4964528"/>
          </a:xfrm>
        </p:spPr>
        <p:txBody>
          <a:bodyPr/>
          <a:lstStyle/>
          <a:p>
            <a:pPr marL="0" indent="0">
              <a:buNone/>
            </a:pPr>
            <a:r>
              <a:rPr lang="en-GB" b="1" dirty="0">
                <a:solidFill>
                  <a:schemeClr val="tx1">
                    <a:lumMod val="95000"/>
                    <a:lumOff val="5000"/>
                  </a:schemeClr>
                </a:solidFill>
                <a:latin typeface="Arial Rounded MT Bold" panose="020F0704030504030204" pitchFamily="34" charset="0"/>
              </a:rPr>
              <a:t>[Screen shot of codes]</a:t>
            </a:r>
          </a:p>
        </p:txBody>
      </p:sp>
      <p:sp>
        <p:nvSpPr>
          <p:cNvPr id="4" name="Title 3">
            <a:extLst>
              <a:ext uri="{FF2B5EF4-FFF2-40B4-BE49-F238E27FC236}">
                <a16:creationId xmlns:a16="http://schemas.microsoft.com/office/drawing/2014/main" id="{AACED4C4-B189-17CF-12B3-EB3235A55821}"/>
              </a:ext>
            </a:extLst>
          </p:cNvPr>
          <p:cNvSpPr>
            <a:spLocks noGrp="1"/>
          </p:cNvSpPr>
          <p:nvPr>
            <p:ph type="title"/>
          </p:nvPr>
        </p:nvSpPr>
        <p:spPr>
          <a:xfrm>
            <a:off x="0" y="1"/>
            <a:ext cx="4935538" cy="1252536"/>
          </a:xfrm>
        </p:spPr>
        <p:txBody>
          <a:bodyPr/>
          <a:lstStyle/>
          <a:p>
            <a:r>
              <a:rPr lang="en-GB" dirty="0"/>
              <a:t>RESULTS</a:t>
            </a:r>
          </a:p>
        </p:txBody>
      </p:sp>
      <p:pic>
        <p:nvPicPr>
          <p:cNvPr id="9" name="Picture 8">
            <a:extLst>
              <a:ext uri="{FF2B5EF4-FFF2-40B4-BE49-F238E27FC236}">
                <a16:creationId xmlns:a16="http://schemas.microsoft.com/office/drawing/2014/main" id="{7A484AAA-C193-A55C-0807-CB2051C64881}"/>
              </a:ext>
            </a:extLst>
          </p:cNvPr>
          <p:cNvPicPr>
            <a:picLocks noChangeAspect="1"/>
          </p:cNvPicPr>
          <p:nvPr/>
        </p:nvPicPr>
        <p:blipFill>
          <a:blip r:embed="rId2"/>
          <a:stretch>
            <a:fillRect/>
          </a:stretch>
        </p:blipFill>
        <p:spPr>
          <a:xfrm>
            <a:off x="2965390" y="190548"/>
            <a:ext cx="9069061" cy="5590682"/>
          </a:xfrm>
          <a:prstGeom prst="rect">
            <a:avLst/>
          </a:prstGeom>
        </p:spPr>
      </p:pic>
    </p:spTree>
    <p:extLst>
      <p:ext uri="{BB962C8B-B14F-4D97-AF65-F5344CB8AC3E}">
        <p14:creationId xmlns:p14="http://schemas.microsoft.com/office/powerpoint/2010/main" val="2136814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98055F-B4F8-29A0-2932-F75D47519B88}"/>
              </a:ext>
            </a:extLst>
          </p:cNvPr>
          <p:cNvSpPr>
            <a:spLocks noGrp="1"/>
          </p:cNvSpPr>
          <p:nvPr>
            <p:ph type="body" sz="quarter" idx="12"/>
          </p:nvPr>
        </p:nvSpPr>
        <p:spPr>
          <a:xfrm>
            <a:off x="0" y="675118"/>
            <a:ext cx="4935538" cy="4930345"/>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866190E0-0EB1-365B-B713-E360ED3D5D92}"/>
              </a:ext>
            </a:extLst>
          </p:cNvPr>
          <p:cNvSpPr>
            <a:spLocks noGrp="1"/>
          </p:cNvSpPr>
          <p:nvPr>
            <p:ph type="title"/>
          </p:nvPr>
        </p:nvSpPr>
        <p:spPr>
          <a:xfrm>
            <a:off x="0" y="1"/>
            <a:ext cx="4935538" cy="1636210"/>
          </a:xfrm>
        </p:spPr>
        <p:txBody>
          <a:bodyPr/>
          <a:lstStyle/>
          <a:p>
            <a:r>
              <a:rPr lang="en-GB" dirty="0"/>
              <a:t>RESULTS</a:t>
            </a:r>
          </a:p>
        </p:txBody>
      </p:sp>
      <p:pic>
        <p:nvPicPr>
          <p:cNvPr id="11" name="Picture 10">
            <a:extLst>
              <a:ext uri="{FF2B5EF4-FFF2-40B4-BE49-F238E27FC236}">
                <a16:creationId xmlns:a16="http://schemas.microsoft.com/office/drawing/2014/main" id="{E5A7577F-2EC6-1960-2D33-16AF256F7530}"/>
              </a:ext>
            </a:extLst>
          </p:cNvPr>
          <p:cNvPicPr>
            <a:picLocks noChangeAspect="1"/>
          </p:cNvPicPr>
          <p:nvPr/>
        </p:nvPicPr>
        <p:blipFill>
          <a:blip r:embed="rId2"/>
          <a:stretch>
            <a:fillRect/>
          </a:stretch>
        </p:blipFill>
        <p:spPr>
          <a:xfrm>
            <a:off x="2751745" y="229666"/>
            <a:ext cx="7567541" cy="5953216"/>
          </a:xfrm>
          <a:prstGeom prst="rect">
            <a:avLst/>
          </a:prstGeom>
        </p:spPr>
      </p:pic>
    </p:spTree>
    <p:extLst>
      <p:ext uri="{BB962C8B-B14F-4D97-AF65-F5344CB8AC3E}">
        <p14:creationId xmlns:p14="http://schemas.microsoft.com/office/powerpoint/2010/main" val="4175677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A81A11-56BB-4877-5367-85CA8CFA4F2C}"/>
              </a:ext>
            </a:extLst>
          </p:cNvPr>
          <p:cNvSpPr>
            <a:spLocks noGrp="1"/>
          </p:cNvSpPr>
          <p:nvPr>
            <p:ph type="body" sz="quarter" idx="12"/>
          </p:nvPr>
        </p:nvSpPr>
        <p:spPr>
          <a:xfrm>
            <a:off x="0" y="717848"/>
            <a:ext cx="4935538" cy="4887616"/>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F2809074-273A-ECE8-8D58-CE2D76B8ECA0}"/>
              </a:ext>
            </a:extLst>
          </p:cNvPr>
          <p:cNvSpPr>
            <a:spLocks noGrp="1"/>
          </p:cNvSpPr>
          <p:nvPr>
            <p:ph type="title"/>
          </p:nvPr>
        </p:nvSpPr>
        <p:spPr>
          <a:xfrm>
            <a:off x="0" y="1"/>
            <a:ext cx="4935538" cy="1636210"/>
          </a:xfrm>
        </p:spPr>
        <p:txBody>
          <a:bodyPr/>
          <a:lstStyle/>
          <a:p>
            <a:r>
              <a:rPr lang="en-GB" dirty="0"/>
              <a:t>RESULTS</a:t>
            </a:r>
          </a:p>
        </p:txBody>
      </p:sp>
      <p:pic>
        <p:nvPicPr>
          <p:cNvPr id="10" name="Picture 9">
            <a:extLst>
              <a:ext uri="{FF2B5EF4-FFF2-40B4-BE49-F238E27FC236}">
                <a16:creationId xmlns:a16="http://schemas.microsoft.com/office/drawing/2014/main" id="{4F823A61-7E30-BD59-43CB-FC109BA73B98}"/>
              </a:ext>
            </a:extLst>
          </p:cNvPr>
          <p:cNvPicPr>
            <a:picLocks noChangeAspect="1"/>
          </p:cNvPicPr>
          <p:nvPr/>
        </p:nvPicPr>
        <p:blipFill>
          <a:blip r:embed="rId2"/>
          <a:stretch>
            <a:fillRect/>
          </a:stretch>
        </p:blipFill>
        <p:spPr>
          <a:xfrm>
            <a:off x="333287" y="1078027"/>
            <a:ext cx="10841764" cy="5245284"/>
          </a:xfrm>
          <a:prstGeom prst="rect">
            <a:avLst/>
          </a:prstGeom>
        </p:spPr>
      </p:pic>
    </p:spTree>
    <p:extLst>
      <p:ext uri="{BB962C8B-B14F-4D97-AF65-F5344CB8AC3E}">
        <p14:creationId xmlns:p14="http://schemas.microsoft.com/office/powerpoint/2010/main" val="2019544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678659-9CCF-4A0A-2C75-5AA41F35396C}"/>
              </a:ext>
            </a:extLst>
          </p:cNvPr>
          <p:cNvSpPr>
            <a:spLocks noGrp="1"/>
          </p:cNvSpPr>
          <p:nvPr>
            <p:ph type="body" sz="quarter" idx="12"/>
          </p:nvPr>
        </p:nvSpPr>
        <p:spPr>
          <a:xfrm>
            <a:off x="0" y="658026"/>
            <a:ext cx="4935538" cy="4947437"/>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6EF5F614-8D63-2B43-A55B-9A8BC4E89915}"/>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A1D3DB83-E062-BA6C-1ABB-4FABEEBBCA94}"/>
              </a:ext>
            </a:extLst>
          </p:cNvPr>
          <p:cNvPicPr>
            <a:picLocks noChangeAspect="1"/>
          </p:cNvPicPr>
          <p:nvPr/>
        </p:nvPicPr>
        <p:blipFill>
          <a:blip r:embed="rId2"/>
          <a:stretch>
            <a:fillRect/>
          </a:stretch>
        </p:blipFill>
        <p:spPr>
          <a:xfrm>
            <a:off x="55548" y="981990"/>
            <a:ext cx="12080904" cy="5807643"/>
          </a:xfrm>
          <a:prstGeom prst="rect">
            <a:avLst/>
          </a:prstGeom>
        </p:spPr>
      </p:pic>
    </p:spTree>
    <p:extLst>
      <p:ext uri="{BB962C8B-B14F-4D97-AF65-F5344CB8AC3E}">
        <p14:creationId xmlns:p14="http://schemas.microsoft.com/office/powerpoint/2010/main" val="3901663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310B5C-BF99-B080-2B16-B5F11AFD279C}"/>
              </a:ext>
            </a:extLst>
          </p:cNvPr>
          <p:cNvSpPr>
            <a:spLocks noGrp="1"/>
          </p:cNvSpPr>
          <p:nvPr>
            <p:ph type="body" sz="quarter" idx="12"/>
          </p:nvPr>
        </p:nvSpPr>
        <p:spPr>
          <a:xfrm>
            <a:off x="0" y="683664"/>
            <a:ext cx="4935538" cy="4921799"/>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022CD352-8BEF-07CB-D83C-D62ADB78C2FB}"/>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CF0F55A5-1844-13EA-D25F-61E948407D27}"/>
              </a:ext>
            </a:extLst>
          </p:cNvPr>
          <p:cNvPicPr>
            <a:picLocks noChangeAspect="1"/>
          </p:cNvPicPr>
          <p:nvPr/>
        </p:nvPicPr>
        <p:blipFill>
          <a:blip r:embed="rId2"/>
          <a:stretch>
            <a:fillRect/>
          </a:stretch>
        </p:blipFill>
        <p:spPr>
          <a:xfrm>
            <a:off x="249882" y="1025496"/>
            <a:ext cx="11540465" cy="5604681"/>
          </a:xfrm>
          <a:prstGeom prst="rect">
            <a:avLst/>
          </a:prstGeom>
        </p:spPr>
      </p:pic>
    </p:spTree>
    <p:extLst>
      <p:ext uri="{BB962C8B-B14F-4D97-AF65-F5344CB8AC3E}">
        <p14:creationId xmlns:p14="http://schemas.microsoft.com/office/powerpoint/2010/main" val="1112501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D59835-E84F-A60C-2A8D-58E0EA95ED4F}"/>
              </a:ext>
            </a:extLst>
          </p:cNvPr>
          <p:cNvSpPr>
            <a:spLocks noGrp="1"/>
          </p:cNvSpPr>
          <p:nvPr>
            <p:ph type="body" sz="quarter" idx="12"/>
          </p:nvPr>
        </p:nvSpPr>
        <p:spPr>
          <a:xfrm>
            <a:off x="0" y="623844"/>
            <a:ext cx="4935538" cy="4981620"/>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84F4E59F-5237-FBEB-B9AB-E6CBA321155C}"/>
              </a:ext>
            </a:extLst>
          </p:cNvPr>
          <p:cNvSpPr>
            <a:spLocks noGrp="1"/>
          </p:cNvSpPr>
          <p:nvPr>
            <p:ph type="title"/>
          </p:nvPr>
        </p:nvSpPr>
        <p:spPr>
          <a:xfrm>
            <a:off x="0" y="-68365"/>
            <a:ext cx="4935538" cy="1704576"/>
          </a:xfrm>
        </p:spPr>
        <p:txBody>
          <a:bodyPr/>
          <a:lstStyle/>
          <a:p>
            <a:r>
              <a:rPr lang="en-GB" dirty="0"/>
              <a:t>RESULTS</a:t>
            </a:r>
          </a:p>
        </p:txBody>
      </p:sp>
      <p:pic>
        <p:nvPicPr>
          <p:cNvPr id="6" name="Picture 5">
            <a:extLst>
              <a:ext uri="{FF2B5EF4-FFF2-40B4-BE49-F238E27FC236}">
                <a16:creationId xmlns:a16="http://schemas.microsoft.com/office/drawing/2014/main" id="{453F63A7-113A-2C3B-48AD-69926CA68C98}"/>
              </a:ext>
            </a:extLst>
          </p:cNvPr>
          <p:cNvPicPr>
            <a:picLocks noChangeAspect="1"/>
          </p:cNvPicPr>
          <p:nvPr/>
        </p:nvPicPr>
        <p:blipFill>
          <a:blip r:embed="rId2"/>
          <a:stretch>
            <a:fillRect/>
          </a:stretch>
        </p:blipFill>
        <p:spPr>
          <a:xfrm>
            <a:off x="166642" y="1054695"/>
            <a:ext cx="11858715" cy="5743483"/>
          </a:xfrm>
          <a:prstGeom prst="rect">
            <a:avLst/>
          </a:prstGeom>
        </p:spPr>
      </p:pic>
    </p:spTree>
    <p:extLst>
      <p:ext uri="{BB962C8B-B14F-4D97-AF65-F5344CB8AC3E}">
        <p14:creationId xmlns:p14="http://schemas.microsoft.com/office/powerpoint/2010/main" val="3634644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60576F-4A02-FB51-3615-E7714EAA1084}"/>
              </a:ext>
            </a:extLst>
          </p:cNvPr>
          <p:cNvSpPr>
            <a:spLocks noGrp="1"/>
          </p:cNvSpPr>
          <p:nvPr>
            <p:ph type="body" sz="quarter" idx="12"/>
          </p:nvPr>
        </p:nvSpPr>
        <p:spPr>
          <a:xfrm>
            <a:off x="0" y="675118"/>
            <a:ext cx="4935538" cy="4930345"/>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A26F0032-CFB5-1883-14AC-A2B0B4084A66}"/>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5D5A2216-5326-A305-30F0-0AF3581A312F}"/>
              </a:ext>
            </a:extLst>
          </p:cNvPr>
          <p:cNvPicPr>
            <a:picLocks noChangeAspect="1"/>
          </p:cNvPicPr>
          <p:nvPr/>
        </p:nvPicPr>
        <p:blipFill>
          <a:blip r:embed="rId2"/>
          <a:stretch>
            <a:fillRect/>
          </a:stretch>
        </p:blipFill>
        <p:spPr>
          <a:xfrm>
            <a:off x="316196" y="1125103"/>
            <a:ext cx="11699194" cy="5471673"/>
          </a:xfrm>
          <a:prstGeom prst="rect">
            <a:avLst/>
          </a:prstGeom>
        </p:spPr>
      </p:pic>
    </p:spTree>
    <p:extLst>
      <p:ext uri="{BB962C8B-B14F-4D97-AF65-F5344CB8AC3E}">
        <p14:creationId xmlns:p14="http://schemas.microsoft.com/office/powerpoint/2010/main" val="72479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F03A99-433A-3B33-9260-F2AEC157438F}"/>
              </a:ext>
            </a:extLst>
          </p:cNvPr>
          <p:cNvSpPr>
            <a:spLocks noGrp="1"/>
          </p:cNvSpPr>
          <p:nvPr>
            <p:ph type="body" sz="quarter" idx="12"/>
          </p:nvPr>
        </p:nvSpPr>
        <p:spPr>
          <a:xfrm>
            <a:off x="0" y="692210"/>
            <a:ext cx="4935538" cy="4913254"/>
          </a:xfrm>
        </p:spPr>
        <p:txBody>
          <a:bodyPr>
            <a:normAutofit/>
          </a:bodyPr>
          <a:lstStyle/>
          <a:p>
            <a:pPr marL="0" indent="0">
              <a:buNone/>
            </a:pPr>
            <a:r>
              <a:rPr lang="en-GB" sz="1800"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92D79CB9-9113-D403-6E7B-43A7602BCB71}"/>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E64764E0-1925-7A20-4818-21579F8B22D5}"/>
              </a:ext>
            </a:extLst>
          </p:cNvPr>
          <p:cNvPicPr>
            <a:picLocks noChangeAspect="1"/>
          </p:cNvPicPr>
          <p:nvPr/>
        </p:nvPicPr>
        <p:blipFill>
          <a:blip r:embed="rId2"/>
          <a:stretch>
            <a:fillRect/>
          </a:stretch>
        </p:blipFill>
        <p:spPr>
          <a:xfrm>
            <a:off x="222192" y="1087769"/>
            <a:ext cx="11508336" cy="5541495"/>
          </a:xfrm>
          <a:prstGeom prst="rect">
            <a:avLst/>
          </a:prstGeom>
        </p:spPr>
      </p:pic>
    </p:spTree>
    <p:extLst>
      <p:ext uri="{BB962C8B-B14F-4D97-AF65-F5344CB8AC3E}">
        <p14:creationId xmlns:p14="http://schemas.microsoft.com/office/powerpoint/2010/main" val="1093060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821CBA-2111-627A-C8B1-09A65AB7BF9F}"/>
              </a:ext>
            </a:extLst>
          </p:cNvPr>
          <p:cNvSpPr>
            <a:spLocks noGrp="1"/>
          </p:cNvSpPr>
          <p:nvPr>
            <p:ph type="body" sz="quarter" idx="12"/>
          </p:nvPr>
        </p:nvSpPr>
        <p:spPr>
          <a:xfrm>
            <a:off x="0" y="743484"/>
            <a:ext cx="4935538" cy="4870525"/>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5013CFC2-D9C9-A4B8-5AC9-D678CC2E97C5}"/>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5724BE8D-F470-5B82-387A-D6C63902AC68}"/>
              </a:ext>
            </a:extLst>
          </p:cNvPr>
          <p:cNvPicPr>
            <a:picLocks noChangeAspect="1"/>
          </p:cNvPicPr>
          <p:nvPr/>
        </p:nvPicPr>
        <p:blipFill>
          <a:blip r:embed="rId2"/>
          <a:stretch>
            <a:fillRect/>
          </a:stretch>
        </p:blipFill>
        <p:spPr>
          <a:xfrm>
            <a:off x="2593544" y="212785"/>
            <a:ext cx="9325839" cy="5970098"/>
          </a:xfrm>
          <a:prstGeom prst="rect">
            <a:avLst/>
          </a:prstGeom>
        </p:spPr>
      </p:pic>
    </p:spTree>
    <p:extLst>
      <p:ext uri="{BB962C8B-B14F-4D97-AF65-F5344CB8AC3E}">
        <p14:creationId xmlns:p14="http://schemas.microsoft.com/office/powerpoint/2010/main" val="1298226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866E37-2582-1A2F-109D-8DDD20B46C93}"/>
              </a:ext>
            </a:extLst>
          </p:cNvPr>
          <p:cNvSpPr>
            <a:spLocks noGrp="1"/>
          </p:cNvSpPr>
          <p:nvPr>
            <p:ph type="body" sz="quarter" idx="12"/>
          </p:nvPr>
        </p:nvSpPr>
        <p:spPr>
          <a:xfrm>
            <a:off x="0" y="726394"/>
            <a:ext cx="4935538" cy="4879070"/>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F617D0D2-0314-E0C9-9A9C-B35673DB19D9}"/>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B26A5D01-A8F0-12BB-75B7-64FE4E700F34}"/>
              </a:ext>
            </a:extLst>
          </p:cNvPr>
          <p:cNvPicPr>
            <a:picLocks noChangeAspect="1"/>
          </p:cNvPicPr>
          <p:nvPr/>
        </p:nvPicPr>
        <p:blipFill>
          <a:blip r:embed="rId2"/>
          <a:stretch>
            <a:fillRect/>
          </a:stretch>
        </p:blipFill>
        <p:spPr>
          <a:xfrm>
            <a:off x="2666288" y="90517"/>
            <a:ext cx="8813674" cy="6476928"/>
          </a:xfrm>
          <a:prstGeom prst="rect">
            <a:avLst/>
          </a:prstGeom>
        </p:spPr>
      </p:pic>
    </p:spTree>
    <p:extLst>
      <p:ext uri="{BB962C8B-B14F-4D97-AF65-F5344CB8AC3E}">
        <p14:creationId xmlns:p14="http://schemas.microsoft.com/office/powerpoint/2010/main" val="2355175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7AE282-6E77-8166-F651-C4B47AA48F37}"/>
              </a:ext>
            </a:extLst>
          </p:cNvPr>
          <p:cNvSpPr>
            <a:spLocks noGrp="1"/>
          </p:cNvSpPr>
          <p:nvPr>
            <p:ph type="body" sz="quarter" idx="12"/>
          </p:nvPr>
        </p:nvSpPr>
        <p:spPr>
          <a:xfrm>
            <a:off x="-59821" y="640936"/>
            <a:ext cx="5140637" cy="4888722"/>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101D1D10-9089-E792-42F9-0DCD549BDF8C}"/>
              </a:ext>
            </a:extLst>
          </p:cNvPr>
          <p:cNvSpPr>
            <a:spLocks noGrp="1"/>
          </p:cNvSpPr>
          <p:nvPr>
            <p:ph type="title"/>
          </p:nvPr>
        </p:nvSpPr>
        <p:spPr>
          <a:xfrm>
            <a:off x="-59821" y="-68365"/>
            <a:ext cx="4995359" cy="1704576"/>
          </a:xfrm>
        </p:spPr>
        <p:txBody>
          <a:bodyPr/>
          <a:lstStyle/>
          <a:p>
            <a:r>
              <a:rPr lang="en-GB" dirty="0"/>
              <a:t>RESULTS</a:t>
            </a:r>
          </a:p>
        </p:txBody>
      </p:sp>
      <p:pic>
        <p:nvPicPr>
          <p:cNvPr id="6" name="Picture 5">
            <a:extLst>
              <a:ext uri="{FF2B5EF4-FFF2-40B4-BE49-F238E27FC236}">
                <a16:creationId xmlns:a16="http://schemas.microsoft.com/office/drawing/2014/main" id="{06AA1E47-F7FA-E4C7-5951-5A5E96C57719}"/>
              </a:ext>
            </a:extLst>
          </p:cNvPr>
          <p:cNvPicPr>
            <a:picLocks noChangeAspect="1"/>
          </p:cNvPicPr>
          <p:nvPr/>
        </p:nvPicPr>
        <p:blipFill>
          <a:blip r:embed="rId2"/>
          <a:stretch>
            <a:fillRect/>
          </a:stretch>
        </p:blipFill>
        <p:spPr>
          <a:xfrm>
            <a:off x="132460" y="1045502"/>
            <a:ext cx="11927080" cy="5714541"/>
          </a:xfrm>
          <a:prstGeom prst="rect">
            <a:avLst/>
          </a:prstGeom>
        </p:spPr>
      </p:pic>
    </p:spTree>
    <p:extLst>
      <p:ext uri="{BB962C8B-B14F-4D97-AF65-F5344CB8AC3E}">
        <p14:creationId xmlns:p14="http://schemas.microsoft.com/office/powerpoint/2010/main" val="554315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529839" y="273465"/>
            <a:ext cx="4881916" cy="928121"/>
          </a:xfrm>
        </p:spPr>
        <p:txBody>
          <a:bodyPr>
            <a:normAutofit/>
          </a:bodyPr>
          <a:lstStyle/>
          <a:p>
            <a:r>
              <a:rPr lang="en-IN" sz="4000" dirty="0"/>
              <a:t>Future scope :-</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1350392" y="1201586"/>
            <a:ext cx="7127036" cy="1088548"/>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b="1" dirty="0">
                <a:solidFill>
                  <a:schemeClr val="tx1">
                    <a:lumMod val="95000"/>
                    <a:lumOff val="5000"/>
                  </a:schemeClr>
                </a:solidFill>
                <a:latin typeface="Arial Rounded MT Bold" panose="020F0704030504030204" pitchFamily="34" charset="0"/>
              </a:rPr>
              <a:t>The future scope of the Seasonal Agriculture Performance Analysis project can expand beyond historical data to enable advanced, proactive agricultural planning: </a:t>
            </a:r>
          </a:p>
          <a:p>
            <a:pPr lvl="0"/>
            <a:r>
              <a:rPr lang="en-GB" b="1" dirty="0">
                <a:solidFill>
                  <a:schemeClr val="tx1">
                    <a:lumMod val="95000"/>
                    <a:lumOff val="5000"/>
                  </a:schemeClr>
                </a:solidFill>
                <a:latin typeface="Arial Rounded MT Bold" panose="020F0704030504030204" pitchFamily="34" charset="0"/>
              </a:rPr>
              <a:t>Predictive Yield Modeling: Implementing machine learning algorithms to forecast future crop yields, disease risks, and profitability based on early-season weather predictions.</a:t>
            </a:r>
          </a:p>
          <a:p>
            <a:pPr lvl="0"/>
            <a:r>
              <a:rPr lang="en-GB" b="1" dirty="0">
                <a:solidFill>
                  <a:schemeClr val="tx1">
                    <a:lumMod val="95000"/>
                    <a:lumOff val="5000"/>
                  </a:schemeClr>
                </a:solidFill>
                <a:latin typeface="Arial Rounded MT Bold" panose="020F0704030504030204" pitchFamily="34" charset="0"/>
              </a:rPr>
              <a:t>Real-Time IoT Integration: Incorporating live data streams from soil and weather sensors to provide dynamic, daily irrigation and resource recommendations instead of broad seasonal averages.</a:t>
            </a:r>
          </a:p>
          <a:p>
            <a:pPr lvl="0"/>
            <a:r>
              <a:rPr lang="en-GB" b="1" dirty="0">
                <a:solidFill>
                  <a:schemeClr val="tx1">
                    <a:lumMod val="95000"/>
                    <a:lumOff val="5000"/>
                  </a:schemeClr>
                </a:solidFill>
                <a:latin typeface="Arial Rounded MT Bold" panose="020F0704030504030204" pitchFamily="34" charset="0"/>
              </a:rPr>
              <a:t>Market Price Optimization: Expanding the dataset to include live commodity pricing and supply chain logistics, helping stakeholders decide not only what to plant, but exactly when to sell for maximum revenue.</a:t>
            </a:r>
          </a:p>
          <a:p>
            <a:pPr lvl="0"/>
            <a:r>
              <a:rPr lang="en-GB" b="1" dirty="0">
                <a:solidFill>
                  <a:schemeClr val="tx1">
                    <a:lumMod val="95000"/>
                    <a:lumOff val="5000"/>
                  </a:schemeClr>
                </a:solidFill>
                <a:latin typeface="Arial Rounded MT Bold" panose="020F0704030504030204" pitchFamily="34" charset="0"/>
              </a:rPr>
              <a:t>Geospatial Analytics (GIS): Utilizing satellite imagery and spatial mapping to analyze micro-climates across different districts, enabling hyper-local precision agriculture.</a:t>
            </a:r>
          </a:p>
          <a:p>
            <a:endParaRPr lang="en-GB" sz="1400" b="1" dirty="0">
              <a:solidFill>
                <a:schemeClr val="tx1">
                  <a:lumMod val="95000"/>
                  <a:lumOff val="5000"/>
                </a:schemeClr>
              </a:solidFill>
              <a:latin typeface="Arial Rounded MT Bold" panose="020F0704030504030204" pitchFamily="34" charset="0"/>
            </a:endParaRP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 :-</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47529" y="2234320"/>
            <a:ext cx="12664867"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1900" b="1" dirty="0">
                <a:solidFill>
                  <a:schemeClr val="tx1">
                    <a:lumMod val="95000"/>
                    <a:lumOff val="5000"/>
                  </a:schemeClr>
                </a:solidFill>
                <a:latin typeface="Arial Rounded MT Bold" panose="020F0704030504030204" pitchFamily="34" charset="0"/>
              </a:rPr>
              <a:t>https://github.com/barshemoney-bot/Major-Project_Seasonal-Agriculture-Performance-Analysis.git</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BE4BB3B-CF3E-2857-A068-D8069C1BA9B0}"/>
              </a:ext>
            </a:extLst>
          </p:cNvPr>
          <p:cNvSpPr txBox="1"/>
          <p:nvPr/>
        </p:nvSpPr>
        <p:spPr>
          <a:xfrm>
            <a:off x="230737" y="3307222"/>
            <a:ext cx="11608036" cy="369332"/>
          </a:xfrm>
          <a:prstGeom prst="rect">
            <a:avLst/>
          </a:prstGeom>
          <a:noFill/>
        </p:spPr>
        <p:txBody>
          <a:bodyPr wrap="square" rtlCol="0">
            <a:spAutoFit/>
          </a:bodyPr>
          <a:lstStyle/>
          <a:p>
            <a:r>
              <a:rPr lang="en-GB" b="1" dirty="0">
                <a:latin typeface="Arial Rounded MT Bold" panose="020F0704030504030204" pitchFamily="34" charset="0"/>
              </a:rPr>
              <a:t>https://github.com/barshemoney-bot/Major-Project_Seasonal-Agriculture-Performance-Analysis.git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47E4618-2EF2-790A-2F6F-585BAFA5C275}"/>
              </a:ext>
            </a:extLst>
          </p:cNvPr>
          <p:cNvPicPr>
            <a:picLocks noChangeAspect="1"/>
          </p:cNvPicPr>
          <p:nvPr/>
        </p:nvPicPr>
        <p:blipFill>
          <a:blip r:embed="rId3"/>
          <a:stretch>
            <a:fillRect/>
          </a:stretch>
        </p:blipFill>
        <p:spPr>
          <a:xfrm>
            <a:off x="1679152" y="1311691"/>
            <a:ext cx="7783455" cy="546147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62370" y="-307649"/>
            <a:ext cx="10223367" cy="1655463"/>
          </a:xfrm>
          <a:prstGeom prst="rect">
            <a:avLst/>
          </a:prstGeom>
        </p:spPr>
        <p:txBody>
          <a:bodyPr anchor="ctr">
            <a:normAutofit/>
          </a:bodyPr>
          <a:lstStyle/>
          <a:p>
            <a:pPr algn="ctr"/>
            <a:r>
              <a:rPr lang="en-US" sz="4800" b="1" dirty="0">
                <a:solidFill>
                  <a:schemeClr val="tx1"/>
                </a:solidFill>
              </a:rPr>
              <a:t>THANK YOU </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567710" y="1347814"/>
            <a:ext cx="10303768" cy="4643120"/>
          </a:xfrm>
        </p:spPr>
        <p:txBody>
          <a:bodyPr>
            <a:normAutofit fontScale="77500" lnSpcReduction="20000"/>
          </a:bodyPr>
          <a:lstStyle/>
          <a:p>
            <a:r>
              <a:rPr lang="en-GB" sz="2100" dirty="0">
                <a:solidFill>
                  <a:schemeClr val="tx1">
                    <a:lumMod val="95000"/>
                    <a:lumOff val="5000"/>
                  </a:schemeClr>
                </a:solidFill>
                <a:latin typeface="Arial Rounded MT Bold" panose="020F0704030504030204" pitchFamily="34" charset="0"/>
              </a:rPr>
              <a:t>Subject: Gratitude for the "Seasonal Agriculture Performance Analysis" Project Opportunity</a:t>
            </a:r>
          </a:p>
          <a:p>
            <a:r>
              <a:rPr lang="en-GB" sz="2100" dirty="0">
                <a:solidFill>
                  <a:schemeClr val="tx1">
                    <a:lumMod val="95000"/>
                    <a:lumOff val="5000"/>
                  </a:schemeClr>
                </a:solidFill>
                <a:latin typeface="Arial Rounded MT Bold" panose="020F0704030504030204" pitchFamily="34" charset="0"/>
              </a:rPr>
              <a:t>Dear Team at </a:t>
            </a:r>
            <a:r>
              <a:rPr lang="en-GB" sz="2100" dirty="0" err="1">
                <a:solidFill>
                  <a:schemeClr val="tx1">
                    <a:lumMod val="95000"/>
                    <a:lumOff val="5000"/>
                  </a:schemeClr>
                </a:solidFill>
                <a:latin typeface="Arial Rounded MT Bold" panose="020F0704030504030204" pitchFamily="34" charset="0"/>
              </a:rPr>
              <a:t>Edunet</a:t>
            </a:r>
            <a:r>
              <a:rPr lang="en-GB" sz="2100" dirty="0">
                <a:solidFill>
                  <a:schemeClr val="tx1">
                    <a:lumMod val="95000"/>
                    <a:lumOff val="5000"/>
                  </a:schemeClr>
                </a:solidFill>
                <a:latin typeface="Arial Rounded MT Bold" panose="020F0704030504030204" pitchFamily="34" charset="0"/>
              </a:rPr>
              <a:t> Foundation, Vois, and Vodafone Idea Foundation,</a:t>
            </a:r>
          </a:p>
          <a:p>
            <a:r>
              <a:rPr lang="en-GB" sz="2100" dirty="0">
                <a:solidFill>
                  <a:schemeClr val="tx1">
                    <a:lumMod val="95000"/>
                    <a:lumOff val="5000"/>
                  </a:schemeClr>
                </a:solidFill>
                <a:latin typeface="Arial Rounded MT Bold" panose="020F0704030504030204" pitchFamily="34" charset="0"/>
              </a:rPr>
              <a:t>I am writing to express my sincere gratitude for the opportunity to participate in the CSR Program and to complete the Major Project: Seasonal Agriculture Performance Analysis.</a:t>
            </a:r>
          </a:p>
          <a:p>
            <a:r>
              <a:rPr lang="en-GB" sz="2100" dirty="0">
                <a:solidFill>
                  <a:schemeClr val="tx1">
                    <a:lumMod val="95000"/>
                    <a:lumOff val="5000"/>
                  </a:schemeClr>
                </a:solidFill>
                <a:latin typeface="Arial Rounded MT Bold" panose="020F0704030504030204" pitchFamily="34" charset="0"/>
              </a:rPr>
              <a:t>This program has been an invaluable learning experience. </a:t>
            </a:r>
            <a:r>
              <a:rPr lang="en-GB" sz="2100" dirty="0" err="1">
                <a:solidFill>
                  <a:schemeClr val="tx1">
                    <a:lumMod val="95000"/>
                    <a:lumOff val="5000"/>
                  </a:schemeClr>
                </a:solidFill>
                <a:latin typeface="Arial Rounded MT Bold" panose="020F0704030504030204" pitchFamily="34" charset="0"/>
              </a:rPr>
              <a:t>Analyzing</a:t>
            </a:r>
            <a:r>
              <a:rPr lang="en-GB" sz="2100" dirty="0">
                <a:solidFill>
                  <a:schemeClr val="tx1">
                    <a:lumMod val="95000"/>
                    <a:lumOff val="5000"/>
                  </a:schemeClr>
                </a:solidFill>
                <a:latin typeface="Arial Rounded MT Bold" panose="020F0704030504030204" pitchFamily="34" charset="0"/>
              </a:rPr>
              <a:t> the agricultural dataset allowed me to practically apply data preparation, exploratory data analysis, and statistical visualization techniques to uncover meaningful performance trends across the Kharif, Rabi, and Zaid seasons. Translating raw data into evidence-based recommendations for sustainable agricultural planning has significantly strengthened my analytical and problem-solving skills.</a:t>
            </a:r>
          </a:p>
          <a:p>
            <a:r>
              <a:rPr lang="en-GB" sz="2100" dirty="0">
                <a:solidFill>
                  <a:schemeClr val="tx1">
                    <a:lumMod val="95000"/>
                    <a:lumOff val="5000"/>
                  </a:schemeClr>
                </a:solidFill>
                <a:latin typeface="Arial Rounded MT Bold" panose="020F0704030504030204" pitchFamily="34" charset="0"/>
              </a:rPr>
              <a:t>I truly appreciate the guidance, resources, and platform provided by the </a:t>
            </a:r>
            <a:r>
              <a:rPr lang="en-GB" sz="2100" dirty="0" err="1">
                <a:solidFill>
                  <a:schemeClr val="tx1">
                    <a:lumMod val="95000"/>
                    <a:lumOff val="5000"/>
                  </a:schemeClr>
                </a:solidFill>
                <a:latin typeface="Arial Rounded MT Bold" panose="020F0704030504030204" pitchFamily="34" charset="0"/>
              </a:rPr>
              <a:t>Edunet</a:t>
            </a:r>
            <a:r>
              <a:rPr lang="en-GB" sz="2100" dirty="0">
                <a:solidFill>
                  <a:schemeClr val="tx1">
                    <a:lumMod val="95000"/>
                    <a:lumOff val="5000"/>
                  </a:schemeClr>
                </a:solidFill>
                <a:latin typeface="Arial Rounded MT Bold" panose="020F0704030504030204" pitchFamily="34" charset="0"/>
              </a:rPr>
              <a:t> Foundation, Vois, and the Vodafone Idea Foundation CSR Program. Thank you for your continued commitment to empowering students with real-world technical expertise.</a:t>
            </a:r>
          </a:p>
          <a:p>
            <a:r>
              <a:rPr lang="en-GB" sz="2100" dirty="0">
                <a:solidFill>
                  <a:schemeClr val="tx1">
                    <a:lumMod val="95000"/>
                    <a:lumOff val="5000"/>
                  </a:schemeClr>
                </a:solidFill>
                <a:latin typeface="Arial Rounded MT Bold" panose="020F0704030504030204" pitchFamily="34" charset="0"/>
              </a:rPr>
              <a:t>Sincerely,</a:t>
            </a:r>
          </a:p>
          <a:p>
            <a:r>
              <a:rPr lang="en-GB" sz="2100" dirty="0">
                <a:solidFill>
                  <a:schemeClr val="tx1">
                    <a:lumMod val="95000"/>
                    <a:lumOff val="5000"/>
                  </a:schemeClr>
                </a:solidFill>
                <a:latin typeface="Arial Rounded MT Bold" panose="020F0704030504030204" pitchFamily="34" charset="0"/>
              </a:rPr>
              <a:t>Umang Barshe</a:t>
            </a:r>
          </a:p>
          <a:p>
            <a:r>
              <a:rPr lang="en-GB" sz="2100" dirty="0">
                <a:solidFill>
                  <a:schemeClr val="tx1">
                    <a:lumMod val="95000"/>
                    <a:lumOff val="5000"/>
                  </a:schemeClr>
                </a:solidFill>
                <a:latin typeface="Arial Rounded MT Bold" panose="020F0704030504030204" pitchFamily="34" charset="0"/>
              </a:rPr>
              <a:t>College Name – TAKSHSHILA INSTITUTE OF ENGINEERING AND TECHNOLOGY</a:t>
            </a:r>
          </a:p>
          <a:p>
            <a:r>
              <a:rPr lang="en-GB" sz="2100" dirty="0">
                <a:solidFill>
                  <a:schemeClr val="tx1">
                    <a:lumMod val="95000"/>
                    <a:lumOff val="5000"/>
                  </a:schemeClr>
                </a:solidFill>
                <a:latin typeface="Arial Rounded MT Bold" panose="020F0704030504030204" pitchFamily="34" charset="0"/>
              </a:rPr>
              <a:t>Students AICTE ID -  STU6a2c2581ab2571781278081</a:t>
            </a:r>
          </a:p>
          <a:p>
            <a:endParaRPr lang="en-IN" dirty="0">
              <a:solidFill>
                <a:schemeClr val="tx1">
                  <a:lumMod val="95000"/>
                  <a:lumOff val="5000"/>
                </a:schemeClr>
              </a:solidFill>
              <a:latin typeface="Arial Rounded MT Bold" panose="020F0704030504030204" pitchFamily="34"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855</TotalTime>
  <Words>1175</Words>
  <Application>Microsoft Office PowerPoint</Application>
  <PresentationFormat>Widescreen</PresentationFormat>
  <Paragraphs>84</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Rounded MT Bold</vt:lpstr>
      <vt:lpstr>Calibri</vt:lpstr>
      <vt:lpstr>Trebuchet MS</vt:lpstr>
      <vt:lpstr>Wingdings</vt:lpstr>
      <vt:lpstr>Wingdings 3</vt:lpstr>
      <vt:lpstr>Facet</vt:lpstr>
      <vt:lpstr>Project Title Major :– Project ON Seasonal  Agriculture Performance Analysis [STUDENT NAME :- UMANG BARSHE College Name:- TAKSHSHILA INSTITUTE OF ENGINEERING AND TECHNOLOGY , RGPV]      </vt:lpstr>
      <vt:lpstr>PROBLEM  STATEMENT</vt:lpstr>
      <vt:lpstr>Project Description :- [The "Seasonal Agriculture Performance Analysis" project investigates how agricultural outcomes, resource usage, and profitability fluctuate across different farming seasons. The analysis processes a 4,000-record dataset spanning the Kharif, Rabi, and Zaid seasons to transition raw agricultural data into actionable planning strategies.   Objective: To explore environmental conditions, compare agricultural performance across seasons, and identify significant economic trends to support evidence-based agricultural planning.   Methodology: The project utilizes data cleaning (imputing missing values), exploratory data analysis (mapping temperature, rainfall, and resource dependencies), and economic evaluation (calculating yield, revenue, and profit per crop type). Python libraries like Pandas, Matplotlib, and Seaborn were used for statistical analysis and visualization.   Key Findings: The Kharif season offers the most favorable environmental conditions (high rainfall and soil moisture) and the highest average profitability. Conversely, the Zaid season is highly resource-intensive, demanding maximum water usage while staple crops generate heavy financial losses.   Final Recommendations: Stakeholders should restrict water-intensive staple crops (Rice, Maize, Wheat) during the harsh Zaid season and prioritize resilient cash crops (Sugarcane, Chilli) year-round to maintain financial stability.]  </vt:lpstr>
      <vt:lpstr>WHO ARE THE END USERS?</vt:lpstr>
      <vt:lpstr>Technology Used</vt:lpstr>
      <vt:lpstr>RESULTS </vt:lpstr>
      <vt:lpstr>RESULTS </vt:lpstr>
      <vt:lpstr>RESULTS </vt:lpstr>
      <vt:lpstr>RESULTS </vt:lpstr>
      <vt:lpstr>RESULTS </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Future scope :-</vt:lpstr>
      <vt:lpstr>GitHub Link :-</vt:lpstr>
      <vt:lpstr>VOIS Course completion certificate -  Course name- Data Visualization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umang barshe</cp:lastModifiedBy>
  <cp:revision>100</cp:revision>
  <dcterms:created xsi:type="dcterms:W3CDTF">2021-07-11T13:13:15Z</dcterms:created>
  <dcterms:modified xsi:type="dcterms:W3CDTF">2026-09-08T23:21:01Z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